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business story. Position the day as Banking + Temenos context first, Spring Batch second. Stress that the lab is a classroom-safe mock of Temenos concepts, not a proprietary T24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outcomes aloud. Ask the class to connect prior Java/Spring knowledge with banking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class question. Do not jump to code. Ask what teams would investigate and why ignoring differences is risky.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model as a simplified learning map: Customer -&gt; Arrangement -&gt; Account -&gt; Funds Transfer -&gt; COB extract.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cut-off and COB using practical examples. Use business-date versus calendar-date as a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each lifecycle stage to the code modules. Explain that match is not enough: classification and audit matter in banks.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table for a pair activity. Ask participants to classify breaks before showing the expected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Java class and keep mapping back to the banking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3-4 minutes per lab to explain what participants touch. Keep defect injection practical: amount, currency, status and missing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trainer runbook. Use it to manage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output files and ask participants to validate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interactive. Ask what fails at 10 million records. Ask which controls auditors would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the last 10 minutes. Invite participants to explain a break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appendix slide for code walkthrough or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8890">
            <a:solidFill>
              <a:srgbClr val="D9E0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28 | Banking Domain Deep-Dive II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21792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81228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D28D9"/>
                </a:solidFill>
              </a:rPr>
              <a:t>TRAINER-READY DECK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</a:rPr>
              <a:t>Day 28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6858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Temenos Transact / T24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Processing &amp; Reconciliation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32735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70"/>
                </a:solidFill>
              </a:rPr>
              <a:t>Banking Domain Deep-Dive II | 7.5 hrs | Java 17 + Spring Boot + Spring Batch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4224528"/>
            <a:ext cx="3063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4224528"/>
            <a:ext cx="64008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343400"/>
            <a:ext cx="2807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Temenos Context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4617720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Account Arrangements • Funds Transfer • COB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968496" y="4224528"/>
            <a:ext cx="27889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68496" y="4224528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4343400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Batch Engine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0" y="4617720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Reader → Processor → Writer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022592" y="4224528"/>
            <a:ext cx="281635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22592" y="4224528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4343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Reconciliation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68896" y="4617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Matched vs Break Queue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7406640" y="656539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67085"/>
                </a:solidFill>
              </a:rPr>
              <a:t>Mock integration for classroom use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What participants should be able to explain and build by end of day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1663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728216"/>
            <a:ext cx="530352" cy="53035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013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27048" y="17099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Banking batch basics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27048" y="19933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16070"/>
                </a:solidFill>
              </a:rPr>
              <a:t>Explain business date, value date, cut-off, EOD/COB and control totals.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1663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1728216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8013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59168" y="17099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Temenos transaction 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59168" y="19933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16070"/>
                </a:solidFill>
              </a:rPr>
              <a:t>Understand mocked Account Arrangement and Funds Transfer records.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85800" y="2862072"/>
            <a:ext cx="51663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" y="3081528"/>
            <a:ext cx="530352" cy="5303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5468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27048" y="30632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Reconciliation logic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27048" y="334670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16070"/>
                </a:solidFill>
              </a:rPr>
              <a:t>Classify matched records, missing records and mismatch categories.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217920" y="2862072"/>
            <a:ext cx="51663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308152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15468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59168" y="30632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Spring Batch implementation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59168" y="334670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16070"/>
                </a:solidFill>
              </a:rPr>
              <a:t>Build reader, processor, writers, chunks, metadata and reports.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85800" y="4215384"/>
            <a:ext cx="5166360" cy="98755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" y="4434840"/>
            <a:ext cx="530352" cy="5303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5079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27048" y="44165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Production readiness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27048" y="47000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16070"/>
                </a:solidFill>
              </a:rPr>
              <a:t>Discuss restart, retry, audit, maker-checker, PII and scaling.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005840" y="574243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73"/>
                </a:solidFill>
              </a:rPr>
              <a:t>Trainer message: “Today we are solving a real banking control problem using a runnable batch application.”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Temenos says one thing. Settlement says another. Which system is correct?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2461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6733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Temenos Transact / T24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23544" y="194767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FT2609170002 • INR 25,000 • Live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8183880" y="1554480"/>
            <a:ext cx="32461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83880" y="155448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6733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External Settlement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30184" y="194767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FT2609170002 • INR 24,900 • Settled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160520" y="2057400"/>
            <a:ext cx="3822192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09160" y="17190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Reconciliation Engine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2212848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313432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DC2626"/>
                </a:solidFill>
              </a:rPr>
              <a:t>AMOUNT_MISMATCH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14400" y="3291840"/>
            <a:ext cx="102412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34440" y="3547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3502152"/>
            <a:ext cx="70866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Bank ledger and payment/settlement records must agree.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Even a small difference can indicate fees, reversals, mapping errors or operational breaks.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Unresolved breaks impact customer trust, accounting, risk and audit.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Temenos Transact / T24 Context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A safe classroom simulation of common core-banking records and flows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880360"/>
            <a:ext cx="11887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160520" y="2880360"/>
            <a:ext cx="11887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46520" y="2880360"/>
            <a:ext cx="11887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732520" y="2880360"/>
            <a:ext cx="11887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94560"/>
            <a:ext cx="64008" cy="1051560"/>
          </a:xfrm>
          <a:prstGeom prst="rect">
            <a:avLst/>
          </a:prstGeom>
          <a:solidFill>
            <a:srgbClr val="3B1A73"/>
          </a:solidFill>
          <a:ln w="12700">
            <a:solidFill>
              <a:srgbClr val="3B1A7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1343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Customer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" y="258775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100283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788920" y="219456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88920" y="2194560"/>
            <a:ext cx="64008" cy="10515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2313432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Arrangement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35224" y="2587752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AA-IN-100001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219456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2313432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Account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75504" y="2587752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14613 / 126427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269480" y="219456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69480" y="2194560"/>
            <a:ext cx="64008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15784" y="23134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Funds Transfer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15784" y="25877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FT2609170001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9509760" y="21945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09760" y="219456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6064" y="231343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COB Extract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56064" y="258775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Business-date file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31520" y="4069080"/>
            <a:ext cx="5257800" cy="1005840"/>
          </a:xfrm>
          <a:prstGeom prst="roundRect">
            <a:avLst>
              <a:gd name="adj" fmla="val 8182"/>
            </a:avLst>
          </a:prstGeom>
          <a:solidFill>
            <a:srgbClr val="F8FAFC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43251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Important classroom boundary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6451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We simulate concepts and data. We do not reproduce proprietary Temenos internals.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263640" y="4069080"/>
            <a:ext cx="4800600" cy="1005840"/>
          </a:xfrm>
          <a:prstGeom prst="roundRect">
            <a:avLst>
              <a:gd name="adj" fmla="val 8182"/>
            </a:avLst>
          </a:prstGeom>
          <a:solidFill>
            <a:srgbClr val="F8FAFC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43251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Live integration seam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46451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Mock gateway can later be replaced by customer-approved Transact APIs.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Processing &amp; COB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How banking systems shift from online transactions to controlled end-of-day processing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210312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4984" y="22128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81912" y="2368296"/>
            <a:ext cx="5852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94360" y="2770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08:00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48056" y="305409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Bank opens / online operations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889504" y="210312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89504" y="22128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368296"/>
            <a:ext cx="5852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468880" y="2770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09:00–17:00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322576" y="305409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Transactions posted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764024" y="210312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64024" y="22128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30952" y="2368296"/>
            <a:ext cx="5852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343400" y="2770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Cut-off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197096" y="305409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New items held or routed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638544" y="2103120"/>
            <a:ext cx="530352" cy="53035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38544" y="22128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05472" y="2368296"/>
            <a:ext cx="5852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217920" y="2770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COB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071616" y="305409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Core banking services complete EOD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8513064" y="2103120"/>
            <a:ext cx="530352" cy="5303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3064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13064" y="22128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79992" y="2368296"/>
            <a:ext cx="5852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092440" y="2770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Extract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946136" y="305409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Files created for downstream systems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10387584" y="2103120"/>
            <a:ext cx="530352" cy="5303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87584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387584" y="22128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2770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Reconcile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9820656" y="305409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Matched / breaks generated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777240" y="4251960"/>
            <a:ext cx="106984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33272" y="45262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A73"/>
                </a:solidFill>
              </a:rPr>
              <a:t>Key teaching point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154680" y="4507992"/>
            <a:ext cx="7360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Calendar date, business date, value date, booking date and settlement date are related — but not always identical.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Reconciliation Lifecycle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From Temenos extract to audited operations closure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65376"/>
            <a:ext cx="148132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65376"/>
            <a:ext cx="64008" cy="9326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8424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Extract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2104" y="225856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Temenos + settlement files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221992" y="2322576"/>
            <a:ext cx="274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865376"/>
            <a:ext cx="148132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865376"/>
            <a:ext cx="6400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6624" y="198424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Validate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06624" y="225856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schema, mandatory fields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096512" y="2322576"/>
            <a:ext cx="274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34840" y="1865376"/>
            <a:ext cx="148132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865376"/>
            <a:ext cx="64008" cy="9326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198424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Normalize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81144" y="225856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amount, date, currency formats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71032" y="2322576"/>
            <a:ext cx="274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1865376"/>
            <a:ext cx="148132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865376"/>
            <a:ext cx="64008" cy="9326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198424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Match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55664" y="225856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by FT reference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7845552" y="2322576"/>
            <a:ext cx="274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1865376"/>
            <a:ext cx="148132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1865376"/>
            <a:ext cx="64008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198424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Classify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30184" y="225856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matched vs break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9720072" y="2322576"/>
            <a:ext cx="274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0" y="1865376"/>
            <a:ext cx="148132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58400" y="1865376"/>
            <a:ext cx="64008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04704" y="198424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Resolve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204704" y="225856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ops correction + re-run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914400" y="38862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D1FAE5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07008" y="41788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9669"/>
                </a:solidFill>
              </a:rPr>
              <a:t>MATCHED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4526280" y="38862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FEE2E2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18888" y="41788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2626"/>
                </a:solidFill>
              </a:rPr>
              <a:t>BREAK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8138160" y="38862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DBEAFE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430768" y="41788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AUDIT TRAIL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1280160" y="552297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Every break needs owner, reason, evidence, action, closure status and rerun trace.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 Temenos + Settlement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Purposefully seeded records create useful reconciliation breaks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185416" cy="594360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8132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Temenos Ref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2871216" y="1417320"/>
            <a:ext cx="2841041" cy="594360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6936" y="148132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Temenos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5712257" y="1417320"/>
            <a:ext cx="2841041" cy="594360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57977" y="148132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Settlement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8553298" y="1417320"/>
            <a:ext cx="3059582" cy="594360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9018" y="1481328"/>
            <a:ext cx="2968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Result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685800" y="2011680"/>
            <a:ext cx="2185416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7568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FT2609170001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2871216" y="2011680"/>
            <a:ext cx="2841041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207568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INR 10,000 • Live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712257" y="2011680"/>
            <a:ext cx="2841041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57977" y="207568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INR 10,000 • Settled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8553298" y="2011680"/>
            <a:ext cx="3059582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9018" y="2075688"/>
            <a:ext cx="2968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MATCHED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685800" y="2606040"/>
            <a:ext cx="2185416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7004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FT2609170002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2871216" y="2606040"/>
            <a:ext cx="2841041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16936" y="267004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INR 25,000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712257" y="2606040"/>
            <a:ext cx="2841041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57977" y="267004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INR 24,900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8553298" y="2606040"/>
            <a:ext cx="3059582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9018" y="2670048"/>
            <a:ext cx="2968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AMOUNT_MISMATCH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85800" y="3200400"/>
            <a:ext cx="2185416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26440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FT2609170003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2871216" y="3200400"/>
            <a:ext cx="2841041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16936" y="326440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INR 1,500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712257" y="3200400"/>
            <a:ext cx="2841041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57977" y="326440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INR 1,500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8553298" y="3200400"/>
            <a:ext cx="3059582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9018" y="3264408"/>
            <a:ext cx="2968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MATCHED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685800" y="3794760"/>
            <a:ext cx="2185416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85876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FT2609170004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2871216" y="3794760"/>
            <a:ext cx="2841041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16936" y="385876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Pending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5712257" y="3794760"/>
            <a:ext cx="2841041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7977" y="385876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Settled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8553298" y="3794760"/>
            <a:ext cx="3059582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9018" y="3858768"/>
            <a:ext cx="2968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TEMENOS_NOT_LIVE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685800" y="4389120"/>
            <a:ext cx="2185416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45312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FT2609170005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2871216" y="4389120"/>
            <a:ext cx="2841041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16936" y="445312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USD 1,000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5712257" y="4389120"/>
            <a:ext cx="2841041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7977" y="445312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EUR 1,000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8553298" y="4389120"/>
            <a:ext cx="3059582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9018" y="4453128"/>
            <a:ext cx="2968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CURRENCY_MISMATCH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685800" y="4983480"/>
            <a:ext cx="2185416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504748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FT2609170006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2871216" y="4983480"/>
            <a:ext cx="2841041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16936" y="504748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Present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5712257" y="4983480"/>
            <a:ext cx="2841041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57977" y="5047488"/>
            <a:ext cx="2749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Missing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8553298" y="4983480"/>
            <a:ext cx="3059582" cy="59436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9018" y="5047488"/>
            <a:ext cx="2968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MISSING_IN_SETTLEMENT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2240280" y="5806440"/>
            <a:ext cx="7772400" cy="384048"/>
          </a:xfrm>
          <a:prstGeom prst="roundRect">
            <a:avLst>
              <a:gd name="adj" fmla="val 23810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13432" y="5907024"/>
            <a:ext cx="7626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D28D9"/>
                </a:solidFill>
              </a:rPr>
              <a:t>Trainer uses these breaks for manual + automated reconciliation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Batch Implementation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Mapping the banking lifecycle into reader, processor and writer components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2770632"/>
            <a:ext cx="905256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46320" y="2770632"/>
            <a:ext cx="8686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589520" y="2770632"/>
            <a:ext cx="8686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148840"/>
            <a:ext cx="1737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14884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26771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Reader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2104" y="25420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FlatFileItemReader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Temenos FT extract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770632" y="2148840"/>
            <a:ext cx="2377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70632" y="2148840"/>
            <a:ext cx="64008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226771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Processor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16936" y="254203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ReconciliationProcessor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matching rules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504688" y="2148840"/>
            <a:ext cx="2377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04688" y="2148840"/>
            <a:ext cx="6400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226771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Classifier Writer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50992" y="254203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matched writer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break writer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247888" y="2148840"/>
            <a:ext cx="2377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47888" y="21488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26771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Outputs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94192" y="254203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matched.csv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breaks.csv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1051560" y="4206240"/>
            <a:ext cx="9875520" cy="8229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25880" y="45079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Code flow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44988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T24 CSV → FlatFileItemReader&lt;T24Transaction&gt; → ReconciliationProcessor → ClassifierCompositeItemWriter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1051560" y="5257800"/>
            <a:ext cx="98755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325880" y="544068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B1A73"/>
                </a:solidFill>
              </a:rPr>
              <a:t>Spring Batch teaching points: chunks, metadata, restartability, skip/retry, transaction boundary and job parameters.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Participants build the reconciliation job step by step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44752"/>
            <a:ext cx="23317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09344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099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</a:rPr>
              <a:t>Lab 1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886968" y="20391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Read Temenos extract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3042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16070"/>
                </a:solidFill>
              </a:rPr>
              <a:t>ItemReader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444752"/>
            <a:ext cx="23317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609344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7099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D28D9"/>
                </a:solidFill>
              </a:rPr>
              <a:t>Lab 2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3675888" y="20391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Apply matching rules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75888" y="23042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16070"/>
                </a:solidFill>
              </a:rPr>
              <a:t>ItemProcessor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444752"/>
            <a:ext cx="23317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609344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7099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59669"/>
                </a:solidFill>
              </a:rPr>
              <a:t>Lab 3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6464808" y="20391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Write matched/break 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64808" y="23042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16070"/>
                </a:solidFill>
              </a:rPr>
              <a:t>Classifier writer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52560" y="1444752"/>
            <a:ext cx="23317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1609344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17099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59E0B"/>
                </a:solidFill>
              </a:rPr>
              <a:t>Lab 4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9253728" y="20391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Run full job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53728" y="23042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16070"/>
                </a:solidFill>
              </a:rPr>
              <a:t>expected outputs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3273552"/>
            <a:ext cx="2331720" cy="1243584"/>
          </a:xfrm>
          <a:prstGeom prst="roundRect">
            <a:avLst>
              <a:gd name="adj" fmla="val 6618"/>
            </a:avLst>
          </a:prstGeom>
          <a:solidFill>
            <a:srgbClr val="F8FAFC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3438144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35387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D28D9"/>
                </a:solidFill>
              </a:rPr>
              <a:t>Lab 5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886968" y="38679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Add tolerance rule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" y="41330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16070"/>
                </a:solidFill>
              </a:rPr>
              <a:t>advanced matching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0" y="3273552"/>
            <a:ext cx="2331720" cy="1243584"/>
          </a:xfrm>
          <a:prstGeom prst="roundRect">
            <a:avLst>
              <a:gd name="adj" fmla="val 6618"/>
            </a:avLst>
          </a:prstGeom>
          <a:solidFill>
            <a:srgbClr val="F8FAFC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3438144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35387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DC2626"/>
                </a:solidFill>
              </a:rPr>
              <a:t>Lab 6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3675888" y="38679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Detect duplicates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75888" y="41330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16070"/>
                </a:solidFill>
              </a:rPr>
              <a:t>data-quality control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3273552"/>
            <a:ext cx="2331720" cy="1243584"/>
          </a:xfrm>
          <a:prstGeom prst="roundRect">
            <a:avLst>
              <a:gd name="adj" fmla="val 6618"/>
            </a:avLst>
          </a:prstGeom>
          <a:solidFill>
            <a:srgbClr val="F8FAFC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46520" y="3438144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35387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</a:rPr>
              <a:t>Lab 7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6464808" y="38679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Validate totals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64808" y="41330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16070"/>
                </a:solidFill>
              </a:rPr>
              <a:t>count + amount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574243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B1A73"/>
                </a:solidFill>
              </a:rPr>
              <a:t>Facilitation style: demo first → guided exercise → defect injection → participant fix → expected output check.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Trainer Engagement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7.5-hour execution schedule for Day 28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1917497" cy="523240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Time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2694737" y="1353312"/>
            <a:ext cx="5113325" cy="523240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0457" y="141732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Focus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7808062" y="1353312"/>
            <a:ext cx="3621938" cy="523240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53782" y="141732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Outcome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777240" y="1876552"/>
            <a:ext cx="1917497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4056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08:30–10:15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2694737" y="1876552"/>
            <a:ext cx="5113325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0457" y="194056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Banking batch + reconciliation concepts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808062" y="1876552"/>
            <a:ext cx="3621938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53782" y="194056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Understand why banks reconcile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77240" y="2399792"/>
            <a:ext cx="1917497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46380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10:15–10:30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2694737" y="2399792"/>
            <a:ext cx="5113325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0457" y="246380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Morning break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808062" y="2399792"/>
            <a:ext cx="3621938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53782" y="246380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—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77240" y="2923032"/>
            <a:ext cx="1917497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98704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10:30–12:00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2694737" y="2923032"/>
            <a:ext cx="5113325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0457" y="298704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Temenos scenarios + manual breaks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7808062" y="2923032"/>
            <a:ext cx="3621938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53782" y="298704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Read T24-style FT data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777240" y="3446272"/>
            <a:ext cx="1917497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51028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12:00–01:00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2694737" y="3446272"/>
            <a:ext cx="5113325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0457" y="351028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Lunch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7808062" y="3446272"/>
            <a:ext cx="3621938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53782" y="351028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—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777240" y="3969512"/>
            <a:ext cx="1917497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3352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01:00–03:30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2694737" y="3969512"/>
            <a:ext cx="5113325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0457" y="403352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Spring Batch implementation labs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7808062" y="3969512"/>
            <a:ext cx="3621938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53782" y="403352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Build reader, processor, writers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777240" y="4492752"/>
            <a:ext cx="1917497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55676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03:30–03:45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2694737" y="4492752"/>
            <a:ext cx="5113325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0457" y="455676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Afternoon break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7808062" y="4492752"/>
            <a:ext cx="3621938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53782" y="455676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—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77240" y="5015992"/>
            <a:ext cx="1917497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08000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03:45–05:05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2694737" y="5015992"/>
            <a:ext cx="5113325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0457" y="508000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Advanced labs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7808062" y="5015992"/>
            <a:ext cx="3621938" cy="52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53782" y="508000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Tolerance, duplicate, controls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77240" y="5539232"/>
            <a:ext cx="1917497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603240"/>
            <a:ext cx="182605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05:05–05:30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2694737" y="5539232"/>
            <a:ext cx="5113325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0457" y="5603240"/>
            <a:ext cx="502188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Production design + assessment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7808062" y="5539232"/>
            <a:ext cx="3621938" cy="523240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53782" y="5603240"/>
            <a:ext cx="353049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Audit-ready thinking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Output &amp; Validation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The job should produce a summary and two output files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4800600" cy="3840480"/>
          </a:xfrm>
          <a:prstGeom prst="roundRect">
            <a:avLst>
              <a:gd name="adj" fmla="val 2143"/>
            </a:avLst>
          </a:prstGeom>
          <a:solidFill>
            <a:srgbClr val="0F172A"/>
          </a:solidFill>
          <a:ln w="1016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755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Console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420624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=== RECONCILIATION SUMMARY 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Temenos records :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Settlement records: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Matched          :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Breaks           : 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FT2609170002  AMOUNT_MISMATCH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FT2609170004  TEMENOS_NOT_LIVE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FT2609170005  CURRENCY_MISMATCH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FT2609170006  MISSING_IN_SETTLEMENT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41148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91640"/>
            <a:ext cx="6400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matched.csv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92824" y="208483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records that fully agree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446520" y="2743200"/>
            <a:ext cx="41148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74320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286207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breaks.csv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92824" y="313639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records needing operations review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446520" y="3794760"/>
            <a:ext cx="41148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794760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91363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control_totals.txt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92824" y="418795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count and amount checks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6355080" y="53218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A73"/>
                </a:solidFill>
              </a:rPr>
              <a:t>Assessment checkpoint: participant can explain every break reason without looking at Java code.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Readiness Discussion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What changes when this becomes a real banking project?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44752"/>
            <a:ext cx="49560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444752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563624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API/security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183794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Customer-approved Temenos endpoints, credentials, network controls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6400800" y="1444752"/>
            <a:ext cx="49560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444752"/>
            <a:ext cx="64008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1563624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Scale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47104" y="183794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Millions of records, partitioning, indexing, streaming or staging tables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22960" y="2816352"/>
            <a:ext cx="49560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816352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935224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Reliability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9264" y="320954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Restartability, idempotency, skip/retry, dead-letter handling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400800" y="2816352"/>
            <a:ext cx="49560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816352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2935224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Audit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47104" y="320954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Job metadata, break ownership, closure evidence, maker-checker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822960" y="4187952"/>
            <a:ext cx="49560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187952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4306824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Risk &amp; privacy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9264" y="458114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16070"/>
                </a:solidFill>
              </a:rPr>
              <a:t>PII masking, access control, encryption, retention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097280" y="57150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Key boundary: classroom mock ≠ live Temenos; the mock gateway is the replacement point for real integration.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 &amp; Assessment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Confirm concept, implementation and operational understanding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489204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719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Exit questions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42519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334155"/>
                </a:solidFill>
              </a:rPr>
              <a:t>What is the difference between business date and value date?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</a:rPr>
              <a:t>Why can a Live Temenos transaction still break in settlement?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</a:rPr>
              <a:t>Which rule creates AMOUNT_MISMATCH?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</a:rPr>
              <a:t>What does the writer do with MATCHED vs BREAK?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</a:rPr>
              <a:t>How would you make the job restart-safe?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4892040" cy="4389120"/>
          </a:xfrm>
          <a:prstGeom prst="roundRect">
            <a:avLst>
              <a:gd name="adj" fmla="val 1875"/>
            </a:avLst>
          </a:prstGeom>
          <a:solidFill>
            <a:srgbClr val="F8FAFC"/>
          </a:solidFill>
          <a:ln w="10160">
            <a:solidFill>
              <a:srgbClr val="D9E0F2"/>
            </a:solidFill>
            <a:prstDash val="solid"/>
          </a:ln>
          <a:effectLst>
            <a:outerShdw sx="100000" sy="100000" kx="0" ky="0" algn="bl" rotWithShape="0" blurRad="12700" dist="50800" dir="2700000">
              <a:srgbClr val="D0D5DD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Final deliverables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2121408"/>
            <a:ext cx="42519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334155"/>
                </a:solidFill>
              </a:rPr>
              <a:t>Manual reconciliation sheet completed.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</a:rPr>
              <a:t>Spring Batch job executed successfully.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</a:rPr>
              <a:t>matched.csv and breaks.csv verified.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</a:rPr>
              <a:t>Break queue ownership explained.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</a:rPr>
              <a:t>Production concerns listed.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598932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1A73"/>
                </a:solidFill>
              </a:rPr>
              <a:t>End goal: participants understand the banking reason, not only the Java code.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Source Code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16070"/>
                </a:solidFill>
              </a:rPr>
              <a:t>Where each teaching concept appears in the project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0584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53312"/>
            <a:ext cx="2793492" cy="600075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270205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Concept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3525012" y="1353312"/>
            <a:ext cx="3653028" cy="600075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0732" y="1417320"/>
            <a:ext cx="35615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Class / file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7178040" y="1353312"/>
            <a:ext cx="4297680" cy="600075"/>
          </a:xfrm>
          <a:prstGeom prst="rect">
            <a:avLst/>
          </a:prstGeom>
          <a:solidFill>
            <a:srgbClr val="3B1A73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417320"/>
            <a:ext cx="42062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Purpose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731520" y="1953387"/>
            <a:ext cx="2793492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17395"/>
            <a:ext cx="270205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Temenos mock adapter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3525012" y="1953387"/>
            <a:ext cx="3653028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0732" y="2017395"/>
            <a:ext cx="35615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MockTemenosTransactGateway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178040" y="1953387"/>
            <a:ext cx="429768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017395"/>
            <a:ext cx="42062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Classroom-safe source of T24-style records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31520" y="2553462"/>
            <a:ext cx="2793492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617470"/>
            <a:ext cx="270205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Funds transfer model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3525012" y="2553462"/>
            <a:ext cx="3653028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0732" y="2617470"/>
            <a:ext cx="35615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TemenosFundsTransfer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178040" y="2553462"/>
            <a:ext cx="4297680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2617470"/>
            <a:ext cx="42062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Represents FT transaction attributes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31520" y="3153537"/>
            <a:ext cx="2793492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217545"/>
            <a:ext cx="270205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Batch reader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3525012" y="3153537"/>
            <a:ext cx="3653028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0732" y="3217545"/>
            <a:ext cx="35615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TemenosFundsTransferReader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7178040" y="3153537"/>
            <a:ext cx="429768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3217545"/>
            <a:ext cx="42062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Reads FT extract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731520" y="3753612"/>
            <a:ext cx="2793492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17620"/>
            <a:ext cx="270205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Matching rules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3525012" y="3753612"/>
            <a:ext cx="3653028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70732" y="3817620"/>
            <a:ext cx="35615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ReconciliationProcessor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7178040" y="3753612"/>
            <a:ext cx="4297680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817620"/>
            <a:ext cx="42062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Applies amount/currency/status/value-date checks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731520" y="4353687"/>
            <a:ext cx="2793492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417695"/>
            <a:ext cx="270205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Matched output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3525012" y="4353687"/>
            <a:ext cx="3653028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70732" y="4417695"/>
            <a:ext cx="35615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MatchedTransactionWriter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7178040" y="4353687"/>
            <a:ext cx="429768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4417695"/>
            <a:ext cx="42062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Writes clean records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731520" y="4953762"/>
            <a:ext cx="2793492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017770"/>
            <a:ext cx="270205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Break output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3525012" y="4953762"/>
            <a:ext cx="3653028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70732" y="5017770"/>
            <a:ext cx="35615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ReconciliationBreakWriter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7178040" y="4953762"/>
            <a:ext cx="4297680" cy="600075"/>
          </a:xfrm>
          <a:prstGeom prst="rect">
            <a:avLst/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5017770"/>
            <a:ext cx="42062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Writes exception queue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31520" y="5553837"/>
            <a:ext cx="2793492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617845"/>
            <a:ext cx="270205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Control totals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3525012" y="5553837"/>
            <a:ext cx="3653028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70732" y="5617845"/>
            <a:ext cx="35615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ControlTotalsService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7178040" y="5553837"/>
            <a:ext cx="429768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5617845"/>
            <a:ext cx="42062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</a:rPr>
              <a:t>Compares counts and totals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28 - Temenos Transact/T24 Batch Processing &amp; Reconciliation</dc:title>
  <dc:subject>Day 28 Banking Domain Deep-Dive II - Temenos Transact/T24 Batch Processing &amp; Reconciliation</dc:subject>
  <dc:creator>OpenAI</dc:creator>
  <cp:lastModifiedBy>OpenAI</cp:lastModifiedBy>
  <cp:revision>1</cp:revision>
  <dcterms:created xsi:type="dcterms:W3CDTF">2026-09-17T01:52:49Z</dcterms:created>
  <dcterms:modified xsi:type="dcterms:W3CDTF">2026-09-17T01:52:49Z</dcterms:modified>
</cp:coreProperties>
</file>